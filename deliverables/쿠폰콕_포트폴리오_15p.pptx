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98ee8f8be64afe" /><Relationship Type="http://schemas.openxmlformats.org/officeDocument/2006/relationships/extended-properties" Target="/docProps/app.xml" Id="Rf41ebb9efd824655" /><Relationship Type="http://schemas.openxmlformats.org/officeDocument/2006/relationships/officeDocument" Target="/ppt/presentation.xml" Id="Rdf761a1ac48a4b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607623c9ad45e0"/>
  </p:sldMasterIdLst>
  <p:notesMasterIdLst>
    <p:notesMasterId xmlns:r="http://schemas.openxmlformats.org/officeDocument/2006/relationships" r:id="R60385f42f2c14528"/>
  </p:notesMasterIdLst>
  <p:sldIdLst>
    <p:sldId xmlns:r="http://schemas.openxmlformats.org/officeDocument/2006/relationships" id="256" r:id="R1bc072f7f27a4c56"/>
    <p:sldId xmlns:r="http://schemas.openxmlformats.org/officeDocument/2006/relationships" id="257" r:id="R55bc77e298c6475c"/>
    <p:sldId xmlns:r="http://schemas.openxmlformats.org/officeDocument/2006/relationships" id="258" r:id="R70c8e83bae034ba9"/>
    <p:sldId xmlns:r="http://schemas.openxmlformats.org/officeDocument/2006/relationships" id="259" r:id="Re80bc6d1d62449fa"/>
    <p:sldId xmlns:r="http://schemas.openxmlformats.org/officeDocument/2006/relationships" id="260" r:id="R8795df6feb4d42cb"/>
    <p:sldId xmlns:r="http://schemas.openxmlformats.org/officeDocument/2006/relationships" id="261" r:id="R86f32ac3f19f4097"/>
    <p:sldId xmlns:r="http://schemas.openxmlformats.org/officeDocument/2006/relationships" id="262" r:id="Rd943af44a21f4769"/>
    <p:sldId xmlns:r="http://schemas.openxmlformats.org/officeDocument/2006/relationships" id="263" r:id="Rb5c681298e4f42fe"/>
    <p:sldId xmlns:r="http://schemas.openxmlformats.org/officeDocument/2006/relationships" id="264" r:id="R8f367290a6b04fb0"/>
    <p:sldId xmlns:r="http://schemas.openxmlformats.org/officeDocument/2006/relationships" id="265" r:id="R6d2d1afc2f8f49c0"/>
    <p:sldId xmlns:r="http://schemas.openxmlformats.org/officeDocument/2006/relationships" id="266" r:id="Rf8fb283f1710425c"/>
    <p:sldId xmlns:r="http://schemas.openxmlformats.org/officeDocument/2006/relationships" id="267" r:id="R8ddf4c4616ff4e9a"/>
    <p:sldId xmlns:r="http://schemas.openxmlformats.org/officeDocument/2006/relationships" id="268" r:id="R7332d6fcded7485a"/>
    <p:sldId xmlns:r="http://schemas.openxmlformats.org/officeDocument/2006/relationships" id="269" r:id="Reba524daf9444766"/>
    <p:sldId xmlns:r="http://schemas.openxmlformats.org/officeDocument/2006/relationships" id="270" r:id="Rf1cd0b53fb8046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b0fc6366f54523" /><Relationship Type="http://schemas.openxmlformats.org/officeDocument/2006/relationships/slideMaster" Target="/ppt/slideMasters/slideMaster1.xml" Id="R03607623c9ad45e0" /><Relationship Type="http://schemas.openxmlformats.org/officeDocument/2006/relationships/notesMaster" Target="/ppt/notesMasters/notesMaster1.xml" Id="R60385f42f2c14528" /><Relationship Type="http://schemas.openxmlformats.org/officeDocument/2006/relationships/presProps" Target="/ppt/presProps.xml" Id="Rbdbfcbf9f12e4dc8" /><Relationship Type="http://schemas.openxmlformats.org/officeDocument/2006/relationships/tableStyles" Target="/ppt/tableStyles.xml" Id="R55936eeb06d54b9c" /><Relationship Type="http://schemas.openxmlformats.org/officeDocument/2006/relationships/slide" Target="/ppt/slides/slide1.xml" Id="R1bc072f7f27a4c56" /><Relationship Type="http://schemas.openxmlformats.org/officeDocument/2006/relationships/slide" Target="/ppt/slides/slide2.xml" Id="R55bc77e298c6475c" /><Relationship Type="http://schemas.openxmlformats.org/officeDocument/2006/relationships/slide" Target="/ppt/slides/slide3.xml" Id="R70c8e83bae034ba9" /><Relationship Type="http://schemas.openxmlformats.org/officeDocument/2006/relationships/slide" Target="/ppt/slides/slide4.xml" Id="Re80bc6d1d62449fa" /><Relationship Type="http://schemas.openxmlformats.org/officeDocument/2006/relationships/slide" Target="/ppt/slides/slide5.xml" Id="R8795df6feb4d42cb" /><Relationship Type="http://schemas.openxmlformats.org/officeDocument/2006/relationships/slide" Target="/ppt/slides/slide6.xml" Id="R86f32ac3f19f4097" /><Relationship Type="http://schemas.openxmlformats.org/officeDocument/2006/relationships/slide" Target="/ppt/slides/slide7.xml" Id="Rd943af44a21f4769" /><Relationship Type="http://schemas.openxmlformats.org/officeDocument/2006/relationships/slide" Target="/ppt/slides/slide8.xml" Id="Rb5c681298e4f42fe" /><Relationship Type="http://schemas.openxmlformats.org/officeDocument/2006/relationships/slide" Target="/ppt/slides/slide9.xml" Id="R8f367290a6b04fb0" /><Relationship Type="http://schemas.openxmlformats.org/officeDocument/2006/relationships/slide" Target="/ppt/slides/slide10.xml" Id="R6d2d1afc2f8f49c0" /><Relationship Type="http://schemas.openxmlformats.org/officeDocument/2006/relationships/slide" Target="/ppt/slides/slide11.xml" Id="Rf8fb283f1710425c" /><Relationship Type="http://schemas.openxmlformats.org/officeDocument/2006/relationships/slide" Target="/ppt/slides/slide12.xml" Id="R8ddf4c4616ff4e9a" /><Relationship Type="http://schemas.openxmlformats.org/officeDocument/2006/relationships/slide" Target="/ppt/slides/slide13.xml" Id="R7332d6fcded7485a" /><Relationship Type="http://schemas.openxmlformats.org/officeDocument/2006/relationships/slide" Target="/ppt/slides/slide14.xml" Id="Reba524daf9444766" /><Relationship Type="http://schemas.openxmlformats.org/officeDocument/2006/relationships/slide" Target="/ppt/slides/slide15.xml" Id="Rf1cd0b53fb8046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0f77f898d544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36e619e8e0474b" /><Relationship Type="http://schemas.openxmlformats.org/officeDocument/2006/relationships/notesMaster" Target="/ppt/notesMasters/notesMaster1.xml" Id="R6c180220c59541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78be9b2e964f28" /><Relationship Type="http://schemas.openxmlformats.org/officeDocument/2006/relationships/notesMaster" Target="/ppt/notesMasters/notesMaster1.xml" Id="R6642da24f76245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60c850f13943aa" /><Relationship Type="http://schemas.openxmlformats.org/officeDocument/2006/relationships/notesMaster" Target="/ppt/notesMasters/notesMaster1.xml" Id="Ra7bdfbcf91d943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872b4bad344fec" /><Relationship Type="http://schemas.openxmlformats.org/officeDocument/2006/relationships/notesMaster" Target="/ppt/notesMasters/notesMaster1.xml" Id="Rbc5cc79611ba4e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76c6f444b143d6" /><Relationship Type="http://schemas.openxmlformats.org/officeDocument/2006/relationships/notesMaster" Target="/ppt/notesMasters/notesMaster1.xml" Id="R7e4940bb24bc44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d3219348184ab6" /><Relationship Type="http://schemas.openxmlformats.org/officeDocument/2006/relationships/notesMaster" Target="/ppt/notesMasters/notesMaster1.xml" Id="Rbe850498084441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7e61775c8248f4" /><Relationship Type="http://schemas.openxmlformats.org/officeDocument/2006/relationships/notesMaster" Target="/ppt/notesMasters/notesMaster1.xml" Id="R8b7187ea2ea8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a201f474ef4533" /><Relationship Type="http://schemas.openxmlformats.org/officeDocument/2006/relationships/notesMaster" Target="/ppt/notesMasters/notesMaster1.xml" Id="Ra9238ba4f98a46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b75ea75bd94f5d" /><Relationship Type="http://schemas.openxmlformats.org/officeDocument/2006/relationships/notesMaster" Target="/ppt/notesMasters/notesMaster1.xml" Id="Rcbecc00f159b43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231606b27c44b6" /><Relationship Type="http://schemas.openxmlformats.org/officeDocument/2006/relationships/notesMaster" Target="/ppt/notesMasters/notesMaster1.xml" Id="R8e64266a00f142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656f28d7b24bb5" /><Relationship Type="http://schemas.openxmlformats.org/officeDocument/2006/relationships/notesMaster" Target="/ppt/notesMasters/notesMaster1.xml" Id="R8c8b4e4d680e45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c3638f9e1e4ec3" /><Relationship Type="http://schemas.openxmlformats.org/officeDocument/2006/relationships/notesMaster" Target="/ppt/notesMasters/notesMaster1.xml" Id="Rde0b705cc31848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dd3f8dbda341b7" /><Relationship Type="http://schemas.openxmlformats.org/officeDocument/2006/relationships/notesMaster" Target="/ppt/notesMasters/notesMaster1.xml" Id="Re21fb9c9808843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cf8657301c4788" /><Relationship Type="http://schemas.openxmlformats.org/officeDocument/2006/relationships/notesMaster" Target="/ppt/notesMasters/notesMaster1.xml" Id="Re7deb5653c964d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8fb96eff08422c" /><Relationship Type="http://schemas.openxmlformats.org/officeDocument/2006/relationships/notesMaster" Target="/ppt/notesMasters/notesMaster1.xml" Id="R2ab0ec12ea4d4b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프로젝트 · Flutter / GCP / ADK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D:/development/Github/_AJOU_class/2026-1_AI_Bootcamp/Coupon_Kock/deliverables/AJOU_PBL_1차_MVP_쿠폰콕_통합제출서.docx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D:/development/Github/_AJOU_class/2026-1_AI_Bootcamp/Coupon_Kock/coupons_img/gifticon.png</a:t>
            </a:r>
          </a:p>
          <a:p xmlns:a="http://schemas.openxmlformats.org/drawingml/2006/main">
            <a:r>
              <a:t>- D:/development/Github/_AJOU_class/2026-1_AI_Bootcamp/Coupon_Kock/deliverables/AJOU_PBL_1차_MVP_쿠폰콕_통합제출서.docx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D:/development/Github/_AJOU_class/2026-1_AI_Bootcamp/Coupon_Kock/docs/architecture.md</a:t>
            </a:r>
          </a:p>
          <a:p xmlns:a="http://schemas.openxmlformats.org/drawingml/2006/main">
            <a:r>
              <a:t>- D:/development/Github/_AJOU_class/2026-1_AI_Bootcamp/Coupon_Kock/frontend/lib/features/coupons/coupon_screen.dart</a:t>
            </a:r>
          </a:p>
          <a:p xmlns:a="http://schemas.openxmlformats.org/drawingml/2006/main">
            <a:r>
              <a:t>- D:/development/Github/_AJOU_class/2026-1_AI_Bootcamp/Coupon_Kock/frontend/lib/features/nearby/nearby_screen.dart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D:/development/Github/_AJOU_class/2026-1_AI_Bootcamp/Coupon_Kock/backend/app/services/coupon_registry.py</a:t>
            </a:r>
          </a:p>
          <a:p xmlns:a="http://schemas.openxmlformats.org/drawingml/2006/main">
            <a:r>
              <a:t>- D:/development/Github/_AJOU_class/2026-1_AI_Bootcamp/Coupon_Kock/backend/app/services/recommendation.py</a:t>
            </a:r>
          </a:p>
          <a:p xmlns:a="http://schemas.openxmlformats.org/drawingml/2006/main">
            <a:r>
              <a:t>- D:/development/Github/_AJOU_class/2026-1_AI_Bootcamp/Coupon_Kock/frontend/lib/features/nearby/nearby_screen.dart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D:/development/Github/_AJOU_class/2026-1_AI_Bootcamp/Coupon_Kock/.codex-ppt-work/assets/map-qa-before.png</a:t>
            </a:r>
          </a:p>
          <a:p xmlns:a="http://schemas.openxmlformats.org/drawingml/2006/main">
            <a:r>
              <a:t>- D:/development/Github/_AJOU_class/2026-1_AI_Bootcamp/Coupon_Kock/frontend/lib/features/nearby/nearby_screen.dart</a:t>
            </a:r>
          </a:p>
          <a:p xmlns:a="http://schemas.openxmlformats.org/drawingml/2006/main">
            <a:r>
              <a:t>- D:/development/Github/_AJOU_class/2026-1_AI_Bootcamp/Coupon_Kock/deliverables/AJOU_PBL_1차_MVP_쿠폰콕_통합제출서.docx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D:/development/Github/_AJOU_class/2026-1_AI_Bootcamp/Coupon_Kock/docs/architecture.md</a:t>
            </a:r>
          </a:p>
          <a:p xmlns:a="http://schemas.openxmlformats.org/drawingml/2006/main">
            <a:r>
              <a:t>- D:/development/Github/_AJOU_class/2026-1_AI_Bootcamp/Coupon_Kock/deliverables/AJOU_PBL_1차_MVP_쿠폰콕_통합제출서.docx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D:/development/Github/_AJOU_class/2026-1_AI_Bootcamp/Coupon_Kock/backend/app/agents/coupon_kock_agent/agent.py</a:t>
            </a:r>
          </a:p>
          <a:p xmlns:a="http://schemas.openxmlformats.org/drawingml/2006/main">
            <a:r>
              <a:t>- D:/development/Github/_AJOU_class/2026-1_AI_Bootcamp/Coupon_Kock/backend/app/agents/coupon_kock_agent/tools.py</a:t>
            </a:r>
          </a:p>
          <a:p xmlns:a="http://schemas.openxmlformats.org/drawingml/2006/main">
            <a:r>
              <a:t>- D:/development/Github/_AJOU_class/2026-1_AI_Bootcamp/Coupon_Kock/docs/architecture.md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D:/development/Github/_AJOU_class/2026-1_AI_Bootcamp/Coupon_Kock/backend/app/agents/coupon_kock_agent/agent.py</a:t>
            </a:r>
          </a:p>
          <a:p xmlns:a="http://schemas.openxmlformats.org/drawingml/2006/main">
            <a:r>
              <a:t>- D:/development/Github/_AJOU_class/2026-1_AI_Bootcamp/Coupon_Kock/backend/app/agents/coupon_kock_agent/tools.py</a:t>
            </a:r>
          </a:p>
          <a:p xmlns:a="http://schemas.openxmlformats.org/drawingml/2006/main">
            <a:r>
              <a:t>- D:/development/Github/_AJOU_class/2026-1_AI_Bootcamp/Coupon_Kock/backend/tests/test_adk_agent.py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D:/development/Github/_AJOU_class/2026-1_AI_Bootcamp/Coupon_Kock/docs/public-data.md</a:t>
            </a:r>
          </a:p>
          <a:p xmlns:a="http://schemas.openxmlformats.org/drawingml/2006/main">
            <a:r>
              <a:t>- https://www.data.go.kr/data/15012005/openapi.do</a:t>
            </a:r>
          </a:p>
          <a:p xmlns:a="http://schemas.openxmlformats.org/drawingml/2006/main">
            <a:r>
              <a:t>- D:/development/Github/_AJOU_class/2026-1_AI_Bootcamp/Coupon_Kock/backend/tests/test_coupons_and_stores.py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D:/development/Github/_AJOU_class/2026-1_AI_Bootcamp/Coupon_Kock/docs/api.md</a:t>
            </a:r>
          </a:p>
          <a:p xmlns:a="http://schemas.openxmlformats.org/drawingml/2006/main">
            <a:r>
              <a:t>- https://coupon-kock-663890381698.asia-northeast3.run.app/docs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D:/development/Github/_AJOU_class/2026-1_AI_Bootcamp/Coupon_Kock/README.md</a:t>
            </a:r>
          </a:p>
          <a:p xmlns:a="http://schemas.openxmlformats.org/drawingml/2006/main">
            <a:r>
              <a:t>- D:/development/Github/_AJOU_class/2026-1_AI_Bootcamp/Coupon_Kock/docs/implementation-plan.md</a:t>
            </a:r>
          </a:p>
          <a:p xmlns:a="http://schemas.openxmlformats.org/drawingml/2006/main">
            <a:r>
              <a:t>- https://github.com/guddn/Coupon_Kock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D:/development/Github/_AJOU_class/2026-1_AI_Bootcamp/Coupon_Kock/deliverables/AJOU_PBL_1차_MVP_쿠폰콕_통합제출서.docx</a:t>
            </a:r>
          </a:p>
          <a:p xmlns:a="http://schemas.openxmlformats.org/drawingml/2006/main">
            <a:r>
              <a:t>- D:/development/Github/_AJOU_class/2026-1_AI_Bootcamp/Coupon_Kock/README.md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D:/development/Github/_AJOU_class/2026-1_AI_Bootcamp/Coupon_Kock/backend/tests</a:t>
            </a:r>
          </a:p>
          <a:p xmlns:a="http://schemas.openxmlformats.org/drawingml/2006/main">
            <a:r>
              <a:t>- D:/development/Github/_AJOU_class/2026-1_AI_Bootcamp/Coupon_Kock/frontend/test</a:t>
            </a:r>
          </a:p>
          <a:p xmlns:a="http://schemas.openxmlformats.org/drawingml/2006/main">
            <a:r>
              <a:t>- D:/development/Github/_AJOU_class/2026-1_AI_Bootcamp/Coupon_Kock/deliverables/AJOU_PBL_1차_MVP_쿠폰콕_통합제출서.docx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D:/development/Github/_AJOU_class/2026-1_AI_Bootcamp/Coupon_Kock/docs/implementation-plan.md</a:t>
            </a:r>
          </a:p>
          <a:p xmlns:a="http://schemas.openxmlformats.org/drawingml/2006/main">
            <a:r>
              <a:t>- D:/development/Github/_AJOU_class/2026-1_AI_Bootcamp/Coupon_Kock/deliverables/AJOU_PBL_1차_MVP_쿠폰콕_통합제출서.docx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https://github.com/guddn/Coupon_Kock</a:t>
            </a:r>
          </a:p>
          <a:p xmlns:a="http://schemas.openxmlformats.org/drawingml/2006/main">
            <a:r>
              <a:t>- https://proj-aj25-211200020328.web.app</a:t>
            </a:r>
          </a:p>
          <a:p xmlns:a="http://schemas.openxmlformats.org/drawingml/2006/main">
            <a:r>
              <a:t>- https://coupon-kock-663890381698.asia-northeast3.run.app/docs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6ba2b5d9d46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152b0760044bc2" /><Relationship Type="http://schemas.openxmlformats.org/officeDocument/2006/relationships/slideLayout" Target="/ppt/slideLayouts/slideLayout1.xml" Id="Ra879feaefe12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79feaefe12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49f2564ae4a9d" /><Relationship Type="http://schemas.openxmlformats.org/officeDocument/2006/relationships/notesSlide" Target="/ppt/notesSlides/notesSlide1.xml" Id="Ra0622d5d45ed48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bbd7436b549b8" /><Relationship Type="http://schemas.openxmlformats.org/officeDocument/2006/relationships/image" Target="/ppt/media/image.png" Id="R6d4a397f6378467e" /><Relationship Type="http://schemas.openxmlformats.org/officeDocument/2006/relationships/notesSlide" Target="/ppt/notesSlides/notesSlide2.xml" Id="Rc75f03cf06ad42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072eb620f4a7f" /><Relationship Type="http://schemas.openxmlformats.org/officeDocument/2006/relationships/notesSlide" Target="/ppt/notesSlides/notesSlide3.xml" Id="Ra0e0a00401ba4f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c68c6830941e4" /><Relationship Type="http://schemas.openxmlformats.org/officeDocument/2006/relationships/notesSlide" Target="/ppt/notesSlides/notesSlide4.xml" Id="R079ebfa3d10d4f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5d6b52c4943d6" /><Relationship Type="http://schemas.openxmlformats.org/officeDocument/2006/relationships/image" Target="/ppt/media/image2.png" Id="R5d49b0c115c44205" /><Relationship Type="http://schemas.openxmlformats.org/officeDocument/2006/relationships/notesSlide" Target="/ppt/notesSlides/notesSlide5.xml" Id="R8c89a82fa7f94b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ec7af788c4757" /><Relationship Type="http://schemas.openxmlformats.org/officeDocument/2006/relationships/image" Target="/ppt/media/image3.png" Id="R418b86f9eeaf4cc5" /><Relationship Type="http://schemas.openxmlformats.org/officeDocument/2006/relationships/notesSlide" Target="/ppt/notesSlides/notesSlide6.xml" Id="R8a2cc7e5036347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bb39ec55b4fa6" /><Relationship Type="http://schemas.openxmlformats.org/officeDocument/2006/relationships/image" Target="/ppt/media/image4.png" Id="R15febadf226f4411" /><Relationship Type="http://schemas.openxmlformats.org/officeDocument/2006/relationships/notesSlide" Target="/ppt/notesSlides/notesSlide7.xml" Id="Rff960272dbf84d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8bec804b44504" /><Relationship Type="http://schemas.openxmlformats.org/officeDocument/2006/relationships/notesSlide" Target="/ppt/notesSlides/notesSlide8.xml" Id="Rc6161af621cd4e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a82f3ec924a3f" /><Relationship Type="http://schemas.openxmlformats.org/officeDocument/2006/relationships/notesSlide" Target="/ppt/notesSlides/notesSlide9.xml" Id="R5e0f5fdfc42649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02906b4b04a8b" /><Relationship Type="http://schemas.openxmlformats.org/officeDocument/2006/relationships/notesSlide" Target="/ppt/notesSlides/notesSlide10.xml" Id="Raa11328a953341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c5efb54a14856" /><Relationship Type="http://schemas.openxmlformats.org/officeDocument/2006/relationships/notesSlide" Target="/ppt/notesSlides/notesSlide11.xml" Id="R9a1e37210ba94c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7aa496f0241fd" /><Relationship Type="http://schemas.openxmlformats.org/officeDocument/2006/relationships/notesSlide" Target="/ppt/notesSlides/notesSlide12.xml" Id="R5e38caf5e37a4f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3d340b24f4022" /><Relationship Type="http://schemas.openxmlformats.org/officeDocument/2006/relationships/notesSlide" Target="/ppt/notesSlides/notesSlide13.xml" Id="R96dcd693fc784c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8dd85e8a54f86" /><Relationship Type="http://schemas.openxmlformats.org/officeDocument/2006/relationships/notesSlide" Target="/ppt/notesSlides/notesSlide14.xml" Id="R0b0e486cd36146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3bf0c432f4848" /><Relationship Type="http://schemas.openxmlformats.org/officeDocument/2006/relationships/notesSlide" Target="/ppt/notesSlides/notesSlide15.xml" Id="R8e64058fdd5149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6D38FFDF-9F32-425E-A686-DA6474A9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65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쿠폰콕
위치 기반 쿠폰 혜택 에이전트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95C4E68-D9E0-437A-B8BB-569C4693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PORTFOLIO ·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1A45D08-AEE6-405A-97C3-5AC84B0F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KIM HYEONGWOO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5C795-C368-4CAE-9F88-C2AEE53E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1257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41574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98A77A4-3A73-4F1D-B880-2F17331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431F67C-18E7-4C7F-9785-DCAF9283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결제 직전, 혜택은 흩어져 있다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342D5F79-D6ED-49DB-B492-16A32C1E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EDD500A-94B8-4548-9805-73B36EB0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사용자의 실제 문제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쿠폰은 이미지·앱·문자에 흩어져 있고, 매장·유효기간·결제금액과 연결되지 않는다.
결국 사용자는 혜택을 보유하고도 적용 시점을 놓친다.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a397f6378467e"/>
          <a:stretch xmlns:a="http://schemas.openxmlformats.org/drawingml/2006/main"/>
        </p:blipFill>
        <p:spPr>
          <a:xfrm xmlns:a="http://schemas.openxmlformats.org/drawingml/2006/main">
            <a:off x="7554926" y="733425"/>
            <a:ext cx="2968598" cy="4905375"/>
          </a:xfrm>
          <a:prstGeom xmlns:a="http://schemas.openxmlformats.org/drawingml/2006/main" prst="rect">
            <a:avLst/>
          </a:prstGeom>
        </p:spPr>
      </p:pic>
      <p:sp>
        <p:nvSpPr>
          <p:cNvPr id="7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232DBE71-0DF4-4401-958D-5240BBF9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24851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4647A2F-E9E6-4A70-A77C-B8A49D7D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E8EF6B1-A183-4FB7-8CF4-4777E662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등록부터 추천까지 하나의 사용자 흐름으로 묶었다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BEBD336-0990-4A7F-82A4-EFF061E0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6A9BF90-4F45-4C56-B34E-4459EFFA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A7D77BF-CD05-4791-87F9-8F30144B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3DD6BBB-64F9-4EB9-A124-8328A5BC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STEP 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B2DE9B0-9AB4-495C-9AB9-BAC50AB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STEP 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FCAE951-360F-4255-B00A-43886D22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STEP 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2825D23-1AD7-466D-9962-B7313DCA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주변 탐색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GPS와 공공 상가데이터를 결합해 사용 가능한 매장만 선별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1A390CF-D5AC-44FA-9AA8-18490C39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쿠폰 등록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브랜드·상품·금액·유효기간을 저장하고 사용자별로 관리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2FE7B05-0B0A-42C4-8E3B-E2D8850F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혜택 추천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결정적 계산 결과를 ADK와 Gemini가 근거 중심으로 설명</a:t>
            </a:r>
          </a:p>
        </p:txBody>
      </p:sp>
      <p:sp>
        <p:nvSpPr>
          <p:cNvPr id="13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A1F24156-9ED5-47CB-9D7F-FBD503E6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62513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C5C432F-04CD-4F9E-B8C8-D3392B86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07D8B78-7045-42DE-BC60-62E9033E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핵심 기능은 사용자 가치와 직접 연결된다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629F248-5DF6-4465-80CA-B8AE90E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쿠폰 등록·관리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Firestore 영속화와 사용자별 조회로 재사용 가능한 데이터화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2EFED2C-5751-44A2-9E73-C4B2A62C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위치 기반 Top 5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현재 위치에서 실제 거리를 다시 계산해 가까운 순으로 정렬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2767CB5-2A2B-4ED7-9137-B8DC633D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쿠폰–매장 필터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보유 쿠폰 브랜드와 일치하는 매장만 지도와 목록에 표시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527CF5D-5F60-4F7C-9ABA-416B9131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혜택 계산·설명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Python calculator가 금액을 결정하고 Gemini는 근거만 설명</a:t>
            </a:r>
          </a:p>
        </p:txBody>
      </p:sp>
      <p:sp>
        <p:nvSpPr>
          <p:cNvPr id="7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FE5C8233-0403-489B-A932-23B824A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31242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7FAE4CD-328C-4802-A1A2-7174B6EA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1D2D1E1-5BA3-4A60-8B68-90A2E6A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지도 QA로 거리·정렬을 고쳤다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1869B742-2D6B-430B-9F97-50D6E54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E1DC65D-6C98-4EEF-BA2C-93B90AFD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발견 → 수정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초기 화면에서 지도 잘림과 91m 중복 표시를 확인했다.
탭 활성 시 지도 생성, 전체 영역 배치, 최신 GPS 기준 Haversine 재계산, 오름차순 정렬을 적용했다.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9b0c115c44205"/>
          <a:stretch xmlns:a="http://schemas.openxmlformats.org/drawingml/2006/main"/>
        </p:blipFill>
        <p:spPr>
          <a:xfrm xmlns:a="http://schemas.openxmlformats.org/drawingml/2006/main">
            <a:off x="7575562" y="552450"/>
            <a:ext cx="3174976" cy="5429250"/>
          </a:xfrm>
          <a:prstGeom xmlns:a="http://schemas.openxmlformats.org/drawingml/2006/main" prst="rect">
            <a:avLst/>
          </a:prstGeom>
        </p:spPr>
      </p:pic>
      <p:sp>
        <p:nvSpPr>
          <p:cNvPr id="7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D1734B3E-9202-4ABF-A2D2-B31DF75E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30037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A1DF6303-4C49-4767-8A56-45E3798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457627CE-BA9A-47B6-A0C3-FE33FFE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1649F639-7B34-4908-8B71-869A4B26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Flutter부터 Gemini까지 하나의 GCP 경계로 연결했다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23EA7A27-5884-4853-B926-D7784440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diagram-clean-field">
            <a:extLst xmlns:a="http://schemas.openxmlformats.org/drawingml/2006/main">
              <a:ext uri="{FF2B5EF4-FFF2-40B4-BE49-F238E27FC236}">
                <a16:creationId xmlns:a16="http://schemas.microsoft.com/office/drawing/2014/main" id="{5BB526E5-3A3C-4386-9DEA-95CCE501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1095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b86f9eeaf4cc5"/>
          <a:stretch xmlns:a="http://schemas.openxmlformats.org/drawingml/2006/main"/>
        </p:blipFill>
        <p:spPr>
          <a:xfrm xmlns:a="http://schemas.openxmlformats.org/drawingml/2006/main">
            <a:off x="590550" y="2570382"/>
            <a:ext cx="11010900" cy="2022035"/>
          </a:xfrm>
          <a:prstGeom xmlns:a="http://schemas.openxmlformats.org/drawingml/2006/main" prst="rect">
            <a:avLst/>
          </a:prstGeom>
        </p:spPr>
      </p:pic>
      <p:sp>
        <p:nvSpPr>
          <p:cNvPr id="7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DFFCC389-005E-4D01-B34B-9D8754C5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Frontend · API · Agent · Data · Infra의 책임을 분리하고 Secret은 런타임 계정에만 주입</a:t>
            </a:r>
          </a:p>
        </p:txBody>
      </p:sp>
      <p:sp>
        <p:nvSpPr>
          <p:cNvPr id="8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A8319B65-05E7-437F-982D-9DD8BD48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14957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B4EA57A8-0F0B-4224-866F-B2F0B29F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217AFA2B-603F-42ED-9CB6-3E25D4B6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A4294390-A4C4-4144-9147-6FE35004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에이전트는 매장 후보를 줄인 뒤 가격을 계산한다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16CF6D0-BC5E-49C9-A099-2B3DF0B2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diagram-clean-field">
            <a:extLst xmlns:a="http://schemas.openxmlformats.org/drawingml/2006/main">
              <a:ext uri="{FF2B5EF4-FFF2-40B4-BE49-F238E27FC236}">
                <a16:creationId xmlns:a16="http://schemas.microsoft.com/office/drawing/2014/main" id="{A375D57F-DF1D-4229-A234-D9A4C4F4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1095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ebadf226f4411"/>
          <a:stretch xmlns:a="http://schemas.openxmlformats.org/drawingml/2006/main"/>
        </p:blipFill>
        <p:spPr>
          <a:xfrm xmlns:a="http://schemas.openxmlformats.org/drawingml/2006/main">
            <a:off x="590550" y="1865315"/>
            <a:ext cx="11010900" cy="3432171"/>
          </a:xfrm>
          <a:prstGeom xmlns:a="http://schemas.openxmlformats.org/drawingml/2006/main" prst="rect">
            <a:avLst/>
          </a:prstGeom>
        </p:spPr>
      </p:pic>
      <p:sp>
        <p:nvSpPr>
          <p:cNvPr id="7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E87F6253-6287-4A13-8A73-0B5B670E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GPS → 공공데이터 → 유효 쿠폰 → 브랜드 매칭 → 거리 Top 5 → 가격 계산 → Gemini 근거 설명</a:t>
            </a:r>
          </a:p>
        </p:txBody>
      </p:sp>
      <p:sp>
        <p:nvSpPr>
          <p:cNvPr id="8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26012F69-0468-4097-A2D8-94BD1055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46264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925E50D-BAAE-4DE0-9C69-37CA39D8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94DE3FB-9E65-49AC-814C-C14C5DE1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ADK는 판단 과정과 계산 책임을 분리한다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20D7424-26E7-484F-9CEC-DDBAC6F3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store_match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위치와 매장 후보를 검증해 잘못된 매장 진입을 차단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57131E6-AD58-47DC-BFE2-CFA1F3A9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benefit context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사용자 쿠폰과 후속 공식 혜택 RAG의 근거 상태를 로드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3D874CB-568F-4F32-AC2B-2A7FAA08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rule validator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유효기간·브랜드·조건을 검사하고 근거 없는 규칙은 제외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191FDCC-E8F4-4CC2-ABB5-8B24684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price calculator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LLM 밖의 결정적 코드가 최종 금액과 절감액을 산출</a:t>
            </a:r>
          </a:p>
        </p:txBody>
      </p:sp>
      <p:sp>
        <p:nvSpPr>
          <p:cNvPr id="7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DBEAEAEC-B089-4580-B8AC-B046A785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38781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22CCA9B7-E911-44DA-BF06-DB9907FB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공공 상가데이터의 역할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• 반경 내 매장 후보와 좌표 조회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• Cloud Run에서 인증키를 Secret으로 호출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• 실패 시 fixture와 notice로 출처를 구분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EFDA220C-35D1-4D0F-AAA3-77C5EA37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CD19B44D-4FCC-4C58-83D7-886F904E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공공데이터는 후보를 만들고, 쿠폰 데이터가 의미를 만든다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395E9463-F6D8-4331-A04A-1AB5669E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서비스 계층의 보정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쿠폰 브랜드 매칭 → Haversine 재계산 → 오름차순 정렬 → Top 5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브랜드 누락은 Google Places·공식 Store Master로 보완 예정</a:t>
            </a:r>
          </a:p>
        </p:txBody>
      </p:sp>
      <p:sp>
        <p:nvSpPr>
          <p:cNvPr id="5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60C86FEE-33DC-4522-895D-3DB7058F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43070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D23196E-DC52-4E23-A371-74AF5CBC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99D7852-627A-4FCE-84FF-A88F8C65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프론트와 백엔드는 명확한 API 계약으로 연결된다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C904F14-BC86-4ECC-8E58-63EEED31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POST /api/coupons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브랜드·상품·금액·유효기간을 검증하고 Firestore에 저장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C5CE57F-FE29-40C0-B27E-D937DE95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GET /api/stores/nearby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사용자·좌표·반경·limit으로 쿠폰 사용 가능 Top 5 반환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2B0CE16-EA40-4E63-89A3-080DD52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POST /api/recommendations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결제금액과 후보를 받아 예상 최종 금액을 계산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A267662-FAAF-4DE6-9E6C-C188C20C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POST /api/agent/recommendations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ADK 실행 결과와 answer·tool_trace를 함께 반환</a:t>
            </a:r>
          </a:p>
        </p:txBody>
      </p:sp>
      <p:sp>
        <p:nvSpPr>
          <p:cNvPr id="7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4293809E-074A-4A76-BC11-A3B3362E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61442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8117A0C-2BD0-4895-8BD4-7844A9F4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52C8C88-D847-48F8-9E9B-9BB31CDD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Git push가 웹과 API 배포로 이어지도록 자동화했다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B7444A4-559D-4A84-BC9A-C1DA3D82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5DCD5A5-D730-48F2-81FB-A1F7AEB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7579D43-1F30-42AF-80C6-2E9CFF1F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A620A73-1346-4D28-9903-522CEDA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SOURCE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5436AE9-367E-4B0E-A9A1-0F97BE6A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BACKEND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12843F9-896A-476B-843B-704CFCC0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FRONTEND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4C16C25-CC55-4587-B783-BC3E11D8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Cloud Build → Run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Docker 이미지 생성, Artifact Registry, 새 Revision 배포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9CBCA47-7ECD-4BC1-B077-B078670F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GitHub main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기능 단위 커밋과 문서로 변경 범위를 추적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2F8340E-4A37-45E8-9308-94216DFD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Flutter → Firebase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dart-define으로 환경을 주입해 Web release를 Hosting에 배포</a:t>
            </a:r>
          </a:p>
        </p:txBody>
      </p:sp>
      <p:sp>
        <p:nvSpPr>
          <p:cNvPr id="13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38E35498-DC70-4D48-B178-76D72B30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38695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EF38B131-D1AE-4911-9241-9AE664E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막혔던 지점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• Developer Connect 읽기 토큰 403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• Backend 경로 대소문자·Docker context 오류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• Secret Manager 접근 거부와 공공 API 키 오류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19270F9E-D109-45E0-9A29-1710933A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36CD132A-6A46-44D2-915D-E58E31DF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배포 문제는 계정·런타임·데이터 경계를 분리해 해결했다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4F5D07F1-EA35-4E3D-8112-27EC5E71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해결 원칙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빌드 계정과 Cloud Run 런타임 계정의 IAM을 분리하고 최소 역할을 부여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실패 원인을 UI 메시지와 data_source·notice로 노출해 디버깅 가능성 확보</a:t>
            </a:r>
          </a:p>
        </p:txBody>
      </p:sp>
      <p:sp>
        <p:nvSpPr>
          <p:cNvPr id="5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90301BAD-74AB-4C5D-B488-35B984A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56949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A6BE231-B76F-48EA-A268-2372F2B3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0E502B3-DE82-4FFF-833F-C9D34960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77EE36D-F81F-4C97-972B-08C6B77B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CD0D720-F526-429C-AC9D-8670D4F8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A9F15B6-7F3D-43DA-B108-B9E080A6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자동화 테스트와 배포 상태로 MVP의 핵심 가설을 검증했다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2C936FB-54C6-40A0-81E9-D157B8B3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Backend 16 + Flutter 5
자동화 테스트 통과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675141D-1D43-4F46-8A4E-41563B5C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쿠폰 브랜드 필터 후
거리순 추천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EB8928E-65F6-4BA2-84DC-03469DA3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Cloud Run /health
정상 응답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49F6997-E525-4082-8DDF-32B0F3AA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241E333-E17D-4D59-8B4A-ED513EF3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200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992BB69-7112-4620-9250-10CA96A6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Top 5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3C27169-A438-41A3-BFEA-29160E64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계산과 필터는 결정적 코드로 검증하고, 생성 모델은 결과를 바꾸지 않도록 제한했다.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3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407E534C-3E63-4C18-AF29-D1412FB5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00474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B1BFE1F9-C17E-4D2E-9544-63EA0CD2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현재 시연 가능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쿠폰 수동 등록·Firestore 조회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GPS·지도·공공데이터·쿠폰 매장 Top 5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결정적 혜택 계산·ADK tool_trace·Cloud 배포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E18B4105-0DF5-4D34-94BB-27E63A5C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AF6B8D38-5212-4002-83C0-73F526BE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완성한 MVP와 다음 확장 범위를 의도적으로 구분했다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65D47B3-2176-45AB-BAE0-D607ABA2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다음 우선순위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Google Places·공식 Store Master로 브랜드 coverage 보완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Firebase Auth → Android OCR → 공식 카드·통신사 Vector RAG → geofencing 알림</a:t>
            </a:r>
          </a:p>
        </p:txBody>
      </p:sp>
      <p:sp>
        <p:nvSpPr>
          <p:cNvPr id="5" name="coupon-kock-accent">
            <a:extLst xmlns:a="http://schemas.openxmlformats.org/drawingml/2006/main">
              <a:ext uri="{FF2B5EF4-FFF2-40B4-BE49-F238E27FC236}">
                <a16:creationId xmlns:a16="http://schemas.microsoft.com/office/drawing/2014/main" id="{ABF29D34-441E-4B85-888A-0E98215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52525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12008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1A983A17-867C-4927-9497-4AFF50C4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65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쿠폰콕은
‘작동하는 연결’을 증명했다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A448508-8C53-442F-B28F-D1F94284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Flutter Web · FastAPI · Cloud Run · Firestore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github.com/guddn/Coupon_Kock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7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proj-aj25-211200020328.web.app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A96943B-CD80-4C13-8287-A877229B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F6368"/>
                </a:solidFill>
                <a:latin typeface="Noto Sans KR"/>
                <a:ea typeface="Noto Sans KR"/>
                <a:cs typeface="Noto Sans KR"/>
              </a:rPr>
              <a:t>FULL-STACK AI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DB324-2409-4359-9F3B-6176BE71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7700"/>
            <a:ext cx="1257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948"/>
          </a:solidFill>
          <a:ln xmlns:a="http://schemas.openxmlformats.org/drawingml/2006/main" w="0">
            <a:solidFill>
              <a:srgbClr val="F7C9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5161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2026-08-11T13:39:20.2850000Z</dcterms:created>
  <dcterms:modified xsi:type="dcterms:W3CDTF">2026-08-11T13:39:20.2850000Z</dcterms:modified>
</coreProperties>
</file>